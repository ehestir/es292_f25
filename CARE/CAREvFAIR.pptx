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9" r:id="rId2"/>
    <p:sldId id="256" r:id="rId3"/>
    <p:sldId id="257" r:id="rId4"/>
    <p:sldId id="258"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372"/>
    <p:restoredTop sz="62482"/>
  </p:normalViewPr>
  <p:slideViewPr>
    <p:cSldViewPr snapToGrid="0" showGuides="1">
      <p:cViewPr varScale="1">
        <p:scale>
          <a:sx n="67" d="100"/>
          <a:sy n="67" d="100"/>
        </p:scale>
        <p:origin x="800" y="1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6E2CD9-D9C6-7B4C-A280-595E6D3FB8E0}" type="datetimeFigureOut">
              <a:rPr lang="en-US" smtClean="0"/>
              <a:t>12/9/25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885972-6886-5F4E-B5CE-CCA5195FC349}" type="slidenum">
              <a:rPr lang="en-US" smtClean="0"/>
              <a:t>‹#›</a:t>
            </a:fld>
            <a:endParaRPr lang="en-US"/>
          </a:p>
        </p:txBody>
      </p:sp>
    </p:spTree>
    <p:extLst>
      <p:ext uri="{BB962C8B-B14F-4D97-AF65-F5344CB8AC3E}">
        <p14:creationId xmlns:p14="http://schemas.microsoft.com/office/powerpoint/2010/main" val="21577836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United Nations Declaration on the Rights of Indigenous Peoples (UNDRIP)</a:t>
            </a:r>
            <a:r>
              <a:rPr lang="en-US" dirty="0"/>
              <a:t> establishes:</a:t>
            </a:r>
          </a:p>
          <a:p>
            <a:r>
              <a:rPr lang="en-US" b="1" dirty="0"/>
              <a:t>Self-determination</a:t>
            </a:r>
            <a:endParaRPr lang="en-US" dirty="0"/>
          </a:p>
          <a:p>
            <a:r>
              <a:rPr lang="en-US" b="1" dirty="0"/>
              <a:t>Control over cultural heritage, knowledge, and intellectual property</a:t>
            </a:r>
            <a:endParaRPr lang="en-US" dirty="0"/>
          </a:p>
          <a:p>
            <a:r>
              <a:rPr lang="en-US" b="1" dirty="0"/>
              <a:t>Rights to maintain and protect traditional knowledge, sciences, and technology</a:t>
            </a:r>
            <a:endParaRPr lang="en-US" dirty="0"/>
          </a:p>
          <a:p>
            <a:r>
              <a:rPr lang="en-US" b="1" dirty="0"/>
              <a:t>Free, Prior, and Informed Consent (FPIC)</a:t>
            </a:r>
            <a:r>
              <a:rPr lang="en-US" dirty="0"/>
              <a:t> for activities affecting lands, resources, or knowledge</a:t>
            </a:r>
          </a:p>
          <a:p>
            <a:r>
              <a:rPr lang="en-US" b="1" dirty="0"/>
              <a:t>Key takeaway:</a:t>
            </a:r>
            <a:endParaRPr lang="en-US" dirty="0"/>
          </a:p>
          <a:p>
            <a:r>
              <a:rPr lang="en-US" dirty="0"/>
              <a:t>UNDRIP establishes Indigenous rights </a:t>
            </a:r>
            <a:r>
              <a:rPr lang="en-US" i="1" dirty="0"/>
              <a:t>in principle</a:t>
            </a:r>
            <a:r>
              <a:rPr lang="en-US" dirty="0"/>
              <a:t>; data sovereignty operationalizes those rights </a:t>
            </a:r>
            <a:r>
              <a:rPr lang="en-US" i="1" dirty="0"/>
              <a:t>in practice</a:t>
            </a:r>
            <a:r>
              <a:rPr lang="en-US" dirty="0"/>
              <a:t>.</a:t>
            </a:r>
          </a:p>
          <a:p>
            <a:r>
              <a:rPr lang="en-US" dirty="0"/>
              <a:t>Transition sentence:</a:t>
            </a:r>
            <a:br>
              <a:rPr lang="en-US" dirty="0"/>
            </a:br>
            <a:r>
              <a:rPr lang="en-US" i="1" dirty="0"/>
              <a:t>“If UNDRIP tells us what rights Indigenous Peoples hold, Indigenous data governance asks how we uphold those rights in our research workflows—especially in open science.”</a:t>
            </a:r>
            <a:endParaRPr lang="en-US" dirty="0"/>
          </a:p>
          <a:p>
            <a:endParaRPr lang="en-US" dirty="0"/>
          </a:p>
        </p:txBody>
      </p:sp>
      <p:sp>
        <p:nvSpPr>
          <p:cNvPr id="4" name="Slide Number Placeholder 3"/>
          <p:cNvSpPr>
            <a:spLocks noGrp="1"/>
          </p:cNvSpPr>
          <p:nvPr>
            <p:ph type="sldNum" sz="quarter" idx="5"/>
          </p:nvPr>
        </p:nvSpPr>
        <p:spPr/>
        <p:txBody>
          <a:bodyPr/>
          <a:lstStyle/>
          <a:p>
            <a:fld id="{28885972-6886-5F4E-B5CE-CCA5195FC349}" type="slidenum">
              <a:rPr lang="en-US" smtClean="0"/>
              <a:t>6</a:t>
            </a:fld>
            <a:endParaRPr lang="en-US"/>
          </a:p>
        </p:txBody>
      </p:sp>
    </p:spTree>
    <p:extLst>
      <p:ext uri="{BB962C8B-B14F-4D97-AF65-F5344CB8AC3E}">
        <p14:creationId xmlns:p14="http://schemas.microsoft.com/office/powerpoint/2010/main" val="29610219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global Indigenous data sovereignty movement argues that Indigenous nations must govern how data about their lands, people, and knowledge are collected, accessed, used, and shared.</a:t>
            </a:r>
          </a:p>
          <a:p>
            <a:r>
              <a:rPr lang="en-US" dirty="0"/>
              <a:t>This led to the </a:t>
            </a:r>
            <a:r>
              <a:rPr lang="en-US" b="1" dirty="0"/>
              <a:t>CARE Principles</a:t>
            </a:r>
            <a:r>
              <a:rPr lang="en-US" dirty="0"/>
              <a:t>:</a:t>
            </a:r>
          </a:p>
          <a:p>
            <a:r>
              <a:rPr lang="en-US" b="1" dirty="0"/>
              <a:t>Collective Benefit</a:t>
            </a:r>
            <a:r>
              <a:rPr lang="en-US" dirty="0"/>
              <a:t> – Data should enhance Indigenous wellbeing and self-determination.</a:t>
            </a:r>
          </a:p>
          <a:p>
            <a:r>
              <a:rPr lang="en-US" b="1" dirty="0"/>
              <a:t>Authority to Control</a:t>
            </a:r>
            <a:r>
              <a:rPr lang="en-US" dirty="0"/>
              <a:t> – Indigenous nations decide who collects, accesses, and uses data.</a:t>
            </a:r>
          </a:p>
          <a:p>
            <a:r>
              <a:rPr lang="en-US" b="1" dirty="0"/>
              <a:t>Responsibility</a:t>
            </a:r>
            <a:r>
              <a:rPr lang="en-US" dirty="0"/>
              <a:t> – Researchers must minimize harm and steward data transparently and respectfully.</a:t>
            </a:r>
          </a:p>
          <a:p>
            <a:r>
              <a:rPr lang="en-US" b="1" dirty="0"/>
              <a:t>Ethics</a:t>
            </a:r>
            <a:r>
              <a:rPr lang="en-US" dirty="0"/>
              <a:t> – Beyond IRB: relational accountability, reciprocity, and context-specific norms.</a:t>
            </a:r>
          </a:p>
          <a:p>
            <a:r>
              <a:rPr lang="en-US" dirty="0"/>
              <a:t>Key point: CARE centers </a:t>
            </a:r>
            <a:r>
              <a:rPr lang="en-US" b="1" dirty="0"/>
              <a:t>power, relationships, and sovereignty</a:t>
            </a:r>
            <a:r>
              <a:rPr lang="en-US" dirty="0"/>
              <a:t>, not just data management.</a:t>
            </a:r>
          </a:p>
          <a:p>
            <a:endParaRPr lang="en-US" dirty="0"/>
          </a:p>
        </p:txBody>
      </p:sp>
      <p:sp>
        <p:nvSpPr>
          <p:cNvPr id="4" name="Slide Number Placeholder 3"/>
          <p:cNvSpPr>
            <a:spLocks noGrp="1"/>
          </p:cNvSpPr>
          <p:nvPr>
            <p:ph type="sldNum" sz="quarter" idx="5"/>
          </p:nvPr>
        </p:nvSpPr>
        <p:spPr/>
        <p:txBody>
          <a:bodyPr/>
          <a:lstStyle/>
          <a:p>
            <a:fld id="{28885972-6886-5F4E-B5CE-CCA5195FC349}" type="slidenum">
              <a:rPr lang="en-US" smtClean="0"/>
              <a:t>7</a:t>
            </a:fld>
            <a:endParaRPr lang="en-US"/>
          </a:p>
        </p:txBody>
      </p:sp>
    </p:spTree>
    <p:extLst>
      <p:ext uri="{BB962C8B-B14F-4D97-AF65-F5344CB8AC3E}">
        <p14:creationId xmlns:p14="http://schemas.microsoft.com/office/powerpoint/2010/main" val="1681433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FAIR</a:t>
            </a:r>
            <a:r>
              <a:rPr lang="en-US" dirty="0"/>
              <a:t>: Findable, Accessible, Interoperable, Reusable</a:t>
            </a:r>
          </a:p>
          <a:p>
            <a:r>
              <a:rPr lang="en-US" dirty="0"/>
              <a:t>Developed to support open science, transparency, and machine-readable data infrastructure.</a:t>
            </a:r>
          </a:p>
          <a:p>
            <a:r>
              <a:rPr lang="en-US" dirty="0"/>
              <a:t>FAIR is critical for reproducibility, environmental modeling, machine learning, and remote sensing.</a:t>
            </a:r>
          </a:p>
          <a:p>
            <a:r>
              <a:rPr lang="en-US" b="1" dirty="0"/>
              <a:t>But:</a:t>
            </a:r>
            <a:endParaRPr lang="en-US" dirty="0"/>
          </a:p>
          <a:p>
            <a:r>
              <a:rPr lang="en-US" dirty="0"/>
              <a:t>FAIR does </a:t>
            </a:r>
            <a:r>
              <a:rPr lang="en-US" i="1" dirty="0"/>
              <a:t>not</a:t>
            </a:r>
            <a:r>
              <a:rPr lang="en-US" dirty="0"/>
              <a:t> address who owns the data, who benefits, or who might be harmed.</a:t>
            </a:r>
          </a:p>
          <a:p>
            <a:r>
              <a:rPr lang="en-US" dirty="0"/>
              <a:t>FAIR can unintentionally enable extraction or misuse of Indigenous data when applied without CARE.</a:t>
            </a:r>
          </a:p>
          <a:p>
            <a:r>
              <a:rPr lang="en-US" dirty="0"/>
              <a:t>Transition sentence:</a:t>
            </a:r>
            <a:br>
              <a:rPr lang="en-US" dirty="0"/>
            </a:br>
            <a:r>
              <a:rPr lang="en-US" i="1" dirty="0"/>
              <a:t>“FAIR makes data usable; CARE makes data just.”</a:t>
            </a:r>
            <a:endParaRPr lang="en-US" dirty="0"/>
          </a:p>
          <a:p>
            <a:endParaRPr lang="en-US" dirty="0"/>
          </a:p>
        </p:txBody>
      </p:sp>
      <p:sp>
        <p:nvSpPr>
          <p:cNvPr id="4" name="Slide Number Placeholder 3"/>
          <p:cNvSpPr>
            <a:spLocks noGrp="1"/>
          </p:cNvSpPr>
          <p:nvPr>
            <p:ph type="sldNum" sz="quarter" idx="5"/>
          </p:nvPr>
        </p:nvSpPr>
        <p:spPr/>
        <p:txBody>
          <a:bodyPr/>
          <a:lstStyle/>
          <a:p>
            <a:fld id="{28885972-6886-5F4E-B5CE-CCA5195FC349}" type="slidenum">
              <a:rPr lang="en-US" smtClean="0"/>
              <a:t>8</a:t>
            </a:fld>
            <a:endParaRPr lang="en-US"/>
          </a:p>
        </p:txBody>
      </p:sp>
    </p:spTree>
    <p:extLst>
      <p:ext uri="{BB962C8B-B14F-4D97-AF65-F5344CB8AC3E}">
        <p14:creationId xmlns:p14="http://schemas.microsoft.com/office/powerpoint/2010/main" val="25534552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Environmental and geospatial research must integrate both:</a:t>
            </a:r>
          </a:p>
          <a:p>
            <a:r>
              <a:rPr lang="en-US" b="1" dirty="0"/>
              <a:t>FAIR ensures scientific quality</a:t>
            </a:r>
            <a:r>
              <a:rPr lang="en-US" dirty="0"/>
              <a:t> → good metadata, accessible code, reproducible workflows.</a:t>
            </a:r>
          </a:p>
          <a:p>
            <a:r>
              <a:rPr lang="en-US" b="1" dirty="0"/>
              <a:t>CARE ensures justice and sovereignty</a:t>
            </a:r>
            <a:r>
              <a:rPr lang="en-US" dirty="0"/>
              <a:t> → community authority, FPIC, benefit-sharing, controlled access.</a:t>
            </a:r>
          </a:p>
          <a:p>
            <a:r>
              <a:rPr lang="en-US" dirty="0"/>
              <a:t>Together, they form an ethical–technical framework for open science.</a:t>
            </a:r>
          </a:p>
          <a:p>
            <a:endParaRPr lang="en-US" dirty="0"/>
          </a:p>
        </p:txBody>
      </p:sp>
      <p:sp>
        <p:nvSpPr>
          <p:cNvPr id="4" name="Slide Number Placeholder 3"/>
          <p:cNvSpPr>
            <a:spLocks noGrp="1"/>
          </p:cNvSpPr>
          <p:nvPr>
            <p:ph type="sldNum" sz="quarter" idx="5"/>
          </p:nvPr>
        </p:nvSpPr>
        <p:spPr/>
        <p:txBody>
          <a:bodyPr/>
          <a:lstStyle/>
          <a:p>
            <a:fld id="{28885972-6886-5F4E-B5CE-CCA5195FC349}" type="slidenum">
              <a:rPr lang="en-US" smtClean="0"/>
              <a:t>9</a:t>
            </a:fld>
            <a:endParaRPr lang="en-US"/>
          </a:p>
        </p:txBody>
      </p:sp>
    </p:spTree>
    <p:extLst>
      <p:ext uri="{BB962C8B-B14F-4D97-AF65-F5344CB8AC3E}">
        <p14:creationId xmlns:p14="http://schemas.microsoft.com/office/powerpoint/2010/main" val="3902471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F9F78-423E-1AA8-2875-83D4CA0629E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0565C0D-A240-8CEF-4815-C88B2DB469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47EC14E-8A5F-3557-0828-0BF827E3B324}"/>
              </a:ext>
            </a:extLst>
          </p:cNvPr>
          <p:cNvSpPr>
            <a:spLocks noGrp="1"/>
          </p:cNvSpPr>
          <p:nvPr>
            <p:ph type="dt" sz="half" idx="10"/>
          </p:nvPr>
        </p:nvSpPr>
        <p:spPr/>
        <p:txBody>
          <a:bodyPr/>
          <a:lstStyle/>
          <a:p>
            <a:fld id="{2332F578-431F-584D-96CB-E82021C02728}" type="datetimeFigureOut">
              <a:rPr lang="en-US" smtClean="0"/>
              <a:t>12/9/25</a:t>
            </a:fld>
            <a:endParaRPr lang="en-US"/>
          </a:p>
        </p:txBody>
      </p:sp>
      <p:sp>
        <p:nvSpPr>
          <p:cNvPr id="5" name="Footer Placeholder 4">
            <a:extLst>
              <a:ext uri="{FF2B5EF4-FFF2-40B4-BE49-F238E27FC236}">
                <a16:creationId xmlns:a16="http://schemas.microsoft.com/office/drawing/2014/main" id="{592E26D6-16DE-6B01-D3A8-C4E0185DAF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479A51-60CC-931A-27E1-FB6930A268B2}"/>
              </a:ext>
            </a:extLst>
          </p:cNvPr>
          <p:cNvSpPr>
            <a:spLocks noGrp="1"/>
          </p:cNvSpPr>
          <p:nvPr>
            <p:ph type="sldNum" sz="quarter" idx="12"/>
          </p:nvPr>
        </p:nvSpPr>
        <p:spPr/>
        <p:txBody>
          <a:bodyPr/>
          <a:lstStyle/>
          <a:p>
            <a:fld id="{D8E233C6-FDE6-354F-9DFD-775FECDC4275}" type="slidenum">
              <a:rPr lang="en-US" smtClean="0"/>
              <a:t>‹#›</a:t>
            </a:fld>
            <a:endParaRPr lang="en-US"/>
          </a:p>
        </p:txBody>
      </p:sp>
    </p:spTree>
    <p:extLst>
      <p:ext uri="{BB962C8B-B14F-4D97-AF65-F5344CB8AC3E}">
        <p14:creationId xmlns:p14="http://schemas.microsoft.com/office/powerpoint/2010/main" val="144286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60027-B50E-A88E-589F-F0D3CDE649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96CE19A-434C-3ADD-7FFA-465521445E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EEB40F-9B66-38CF-0325-DF2B854F9824}"/>
              </a:ext>
            </a:extLst>
          </p:cNvPr>
          <p:cNvSpPr>
            <a:spLocks noGrp="1"/>
          </p:cNvSpPr>
          <p:nvPr>
            <p:ph type="dt" sz="half" idx="10"/>
          </p:nvPr>
        </p:nvSpPr>
        <p:spPr/>
        <p:txBody>
          <a:bodyPr/>
          <a:lstStyle/>
          <a:p>
            <a:fld id="{2332F578-431F-584D-96CB-E82021C02728}" type="datetimeFigureOut">
              <a:rPr lang="en-US" smtClean="0"/>
              <a:t>12/9/25</a:t>
            </a:fld>
            <a:endParaRPr lang="en-US"/>
          </a:p>
        </p:txBody>
      </p:sp>
      <p:sp>
        <p:nvSpPr>
          <p:cNvPr id="5" name="Footer Placeholder 4">
            <a:extLst>
              <a:ext uri="{FF2B5EF4-FFF2-40B4-BE49-F238E27FC236}">
                <a16:creationId xmlns:a16="http://schemas.microsoft.com/office/drawing/2014/main" id="{ECCB4697-0751-A397-61FD-0BECAC45F4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05F917-CE1D-3109-E869-309B27DDC508}"/>
              </a:ext>
            </a:extLst>
          </p:cNvPr>
          <p:cNvSpPr>
            <a:spLocks noGrp="1"/>
          </p:cNvSpPr>
          <p:nvPr>
            <p:ph type="sldNum" sz="quarter" idx="12"/>
          </p:nvPr>
        </p:nvSpPr>
        <p:spPr/>
        <p:txBody>
          <a:bodyPr/>
          <a:lstStyle/>
          <a:p>
            <a:fld id="{D8E233C6-FDE6-354F-9DFD-775FECDC4275}" type="slidenum">
              <a:rPr lang="en-US" smtClean="0"/>
              <a:t>‹#›</a:t>
            </a:fld>
            <a:endParaRPr lang="en-US"/>
          </a:p>
        </p:txBody>
      </p:sp>
    </p:spTree>
    <p:extLst>
      <p:ext uri="{BB962C8B-B14F-4D97-AF65-F5344CB8AC3E}">
        <p14:creationId xmlns:p14="http://schemas.microsoft.com/office/powerpoint/2010/main" val="12902353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8C690-E1F8-B62D-A485-96D07D7930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C330F63-E929-CF44-3878-8DE44785649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1976A2-40A5-B4E3-FF9B-22AB76146DB7}"/>
              </a:ext>
            </a:extLst>
          </p:cNvPr>
          <p:cNvSpPr>
            <a:spLocks noGrp="1"/>
          </p:cNvSpPr>
          <p:nvPr>
            <p:ph type="dt" sz="half" idx="10"/>
          </p:nvPr>
        </p:nvSpPr>
        <p:spPr/>
        <p:txBody>
          <a:bodyPr/>
          <a:lstStyle/>
          <a:p>
            <a:fld id="{2332F578-431F-584D-96CB-E82021C02728}" type="datetimeFigureOut">
              <a:rPr lang="en-US" smtClean="0"/>
              <a:t>12/9/25</a:t>
            </a:fld>
            <a:endParaRPr lang="en-US"/>
          </a:p>
        </p:txBody>
      </p:sp>
      <p:sp>
        <p:nvSpPr>
          <p:cNvPr id="5" name="Footer Placeholder 4">
            <a:extLst>
              <a:ext uri="{FF2B5EF4-FFF2-40B4-BE49-F238E27FC236}">
                <a16:creationId xmlns:a16="http://schemas.microsoft.com/office/drawing/2014/main" id="{2C67829C-6F03-01F7-9365-9B622F5843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569BBC-5A76-F3CE-D033-A5D06DC94F47}"/>
              </a:ext>
            </a:extLst>
          </p:cNvPr>
          <p:cNvSpPr>
            <a:spLocks noGrp="1"/>
          </p:cNvSpPr>
          <p:nvPr>
            <p:ph type="sldNum" sz="quarter" idx="12"/>
          </p:nvPr>
        </p:nvSpPr>
        <p:spPr/>
        <p:txBody>
          <a:bodyPr/>
          <a:lstStyle/>
          <a:p>
            <a:fld id="{D8E233C6-FDE6-354F-9DFD-775FECDC4275}" type="slidenum">
              <a:rPr lang="en-US" smtClean="0"/>
              <a:t>‹#›</a:t>
            </a:fld>
            <a:endParaRPr lang="en-US"/>
          </a:p>
        </p:txBody>
      </p:sp>
    </p:spTree>
    <p:extLst>
      <p:ext uri="{BB962C8B-B14F-4D97-AF65-F5344CB8AC3E}">
        <p14:creationId xmlns:p14="http://schemas.microsoft.com/office/powerpoint/2010/main" val="1504617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FE717-C172-1CCB-483E-D460F077AEF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B1509F-255D-2040-3696-CFBB63E1D2D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6ADDC6C-1457-69E7-1DAA-3C8FC10038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B932B11-8D78-74EB-EC4D-D8736BA183A5}"/>
              </a:ext>
            </a:extLst>
          </p:cNvPr>
          <p:cNvSpPr>
            <a:spLocks noGrp="1"/>
          </p:cNvSpPr>
          <p:nvPr>
            <p:ph type="dt" sz="half" idx="10"/>
          </p:nvPr>
        </p:nvSpPr>
        <p:spPr/>
        <p:txBody>
          <a:bodyPr/>
          <a:lstStyle/>
          <a:p>
            <a:fld id="{2332F578-431F-584D-96CB-E82021C02728}" type="datetimeFigureOut">
              <a:rPr lang="en-US" smtClean="0"/>
              <a:t>12/9/25</a:t>
            </a:fld>
            <a:endParaRPr lang="en-US"/>
          </a:p>
        </p:txBody>
      </p:sp>
      <p:sp>
        <p:nvSpPr>
          <p:cNvPr id="6" name="Footer Placeholder 5">
            <a:extLst>
              <a:ext uri="{FF2B5EF4-FFF2-40B4-BE49-F238E27FC236}">
                <a16:creationId xmlns:a16="http://schemas.microsoft.com/office/drawing/2014/main" id="{E710F03F-C35D-5240-9750-46BE0975B1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1E8698-1A64-0D2D-140C-38CF25D79093}"/>
              </a:ext>
            </a:extLst>
          </p:cNvPr>
          <p:cNvSpPr>
            <a:spLocks noGrp="1"/>
          </p:cNvSpPr>
          <p:nvPr>
            <p:ph type="sldNum" sz="quarter" idx="12"/>
          </p:nvPr>
        </p:nvSpPr>
        <p:spPr/>
        <p:txBody>
          <a:bodyPr/>
          <a:lstStyle/>
          <a:p>
            <a:fld id="{D8E233C6-FDE6-354F-9DFD-775FECDC4275}" type="slidenum">
              <a:rPr lang="en-US" smtClean="0"/>
              <a:t>‹#›</a:t>
            </a:fld>
            <a:endParaRPr lang="en-US"/>
          </a:p>
        </p:txBody>
      </p:sp>
    </p:spTree>
    <p:extLst>
      <p:ext uri="{BB962C8B-B14F-4D97-AF65-F5344CB8AC3E}">
        <p14:creationId xmlns:p14="http://schemas.microsoft.com/office/powerpoint/2010/main" val="18262702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6FFA1-644C-79C1-A7A6-401B5E1F3FB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90828BB-AB9C-28B3-651A-4521812243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658A8F-A699-C63B-5412-FE1B398176F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DD4DA96-32B0-38FA-D507-11AB62868F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D63774-83EE-C567-5586-1C94E1D2509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62B3EF-EB72-2161-4BFA-45861DCDC349}"/>
              </a:ext>
            </a:extLst>
          </p:cNvPr>
          <p:cNvSpPr>
            <a:spLocks noGrp="1"/>
          </p:cNvSpPr>
          <p:nvPr>
            <p:ph type="dt" sz="half" idx="10"/>
          </p:nvPr>
        </p:nvSpPr>
        <p:spPr/>
        <p:txBody>
          <a:bodyPr/>
          <a:lstStyle/>
          <a:p>
            <a:fld id="{2332F578-431F-584D-96CB-E82021C02728}" type="datetimeFigureOut">
              <a:rPr lang="en-US" smtClean="0"/>
              <a:t>12/9/25</a:t>
            </a:fld>
            <a:endParaRPr lang="en-US"/>
          </a:p>
        </p:txBody>
      </p:sp>
      <p:sp>
        <p:nvSpPr>
          <p:cNvPr id="8" name="Footer Placeholder 7">
            <a:extLst>
              <a:ext uri="{FF2B5EF4-FFF2-40B4-BE49-F238E27FC236}">
                <a16:creationId xmlns:a16="http://schemas.microsoft.com/office/drawing/2014/main" id="{7CAE6CCA-C38B-815B-30B5-6BF9874CF61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0005055-2312-E63F-C934-DE94AB84B52D}"/>
              </a:ext>
            </a:extLst>
          </p:cNvPr>
          <p:cNvSpPr>
            <a:spLocks noGrp="1"/>
          </p:cNvSpPr>
          <p:nvPr>
            <p:ph type="sldNum" sz="quarter" idx="12"/>
          </p:nvPr>
        </p:nvSpPr>
        <p:spPr/>
        <p:txBody>
          <a:bodyPr/>
          <a:lstStyle/>
          <a:p>
            <a:fld id="{D8E233C6-FDE6-354F-9DFD-775FECDC4275}" type="slidenum">
              <a:rPr lang="en-US" smtClean="0"/>
              <a:t>‹#›</a:t>
            </a:fld>
            <a:endParaRPr lang="en-US"/>
          </a:p>
        </p:txBody>
      </p:sp>
    </p:spTree>
    <p:extLst>
      <p:ext uri="{BB962C8B-B14F-4D97-AF65-F5344CB8AC3E}">
        <p14:creationId xmlns:p14="http://schemas.microsoft.com/office/powerpoint/2010/main" val="2004767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01674-A0B7-B5C8-D299-0A8DAD07476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15EE237-34BC-476F-F7C1-F6F912CDC67B}"/>
              </a:ext>
            </a:extLst>
          </p:cNvPr>
          <p:cNvSpPr>
            <a:spLocks noGrp="1"/>
          </p:cNvSpPr>
          <p:nvPr>
            <p:ph type="dt" sz="half" idx="10"/>
          </p:nvPr>
        </p:nvSpPr>
        <p:spPr/>
        <p:txBody>
          <a:bodyPr/>
          <a:lstStyle/>
          <a:p>
            <a:fld id="{2332F578-431F-584D-96CB-E82021C02728}" type="datetimeFigureOut">
              <a:rPr lang="en-US" smtClean="0"/>
              <a:t>12/9/25</a:t>
            </a:fld>
            <a:endParaRPr lang="en-US"/>
          </a:p>
        </p:txBody>
      </p:sp>
      <p:sp>
        <p:nvSpPr>
          <p:cNvPr id="4" name="Footer Placeholder 3">
            <a:extLst>
              <a:ext uri="{FF2B5EF4-FFF2-40B4-BE49-F238E27FC236}">
                <a16:creationId xmlns:a16="http://schemas.microsoft.com/office/drawing/2014/main" id="{E5443DE4-3DFB-80B2-EADD-7EC3321E1A3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613CE68-E919-D63E-BA92-756CED4B7F45}"/>
              </a:ext>
            </a:extLst>
          </p:cNvPr>
          <p:cNvSpPr>
            <a:spLocks noGrp="1"/>
          </p:cNvSpPr>
          <p:nvPr>
            <p:ph type="sldNum" sz="quarter" idx="12"/>
          </p:nvPr>
        </p:nvSpPr>
        <p:spPr/>
        <p:txBody>
          <a:bodyPr/>
          <a:lstStyle/>
          <a:p>
            <a:fld id="{D8E233C6-FDE6-354F-9DFD-775FECDC4275}" type="slidenum">
              <a:rPr lang="en-US" smtClean="0"/>
              <a:t>‹#›</a:t>
            </a:fld>
            <a:endParaRPr lang="en-US"/>
          </a:p>
        </p:txBody>
      </p:sp>
    </p:spTree>
    <p:extLst>
      <p:ext uri="{BB962C8B-B14F-4D97-AF65-F5344CB8AC3E}">
        <p14:creationId xmlns:p14="http://schemas.microsoft.com/office/powerpoint/2010/main" val="3426501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4DDDA6-B8CA-6E73-54DB-B2DD9F9E58CA}"/>
              </a:ext>
            </a:extLst>
          </p:cNvPr>
          <p:cNvSpPr>
            <a:spLocks noGrp="1"/>
          </p:cNvSpPr>
          <p:nvPr>
            <p:ph type="dt" sz="half" idx="10"/>
          </p:nvPr>
        </p:nvSpPr>
        <p:spPr/>
        <p:txBody>
          <a:bodyPr/>
          <a:lstStyle/>
          <a:p>
            <a:fld id="{2332F578-431F-584D-96CB-E82021C02728}" type="datetimeFigureOut">
              <a:rPr lang="en-US" smtClean="0"/>
              <a:t>12/9/25</a:t>
            </a:fld>
            <a:endParaRPr lang="en-US"/>
          </a:p>
        </p:txBody>
      </p:sp>
      <p:sp>
        <p:nvSpPr>
          <p:cNvPr id="3" name="Footer Placeholder 2">
            <a:extLst>
              <a:ext uri="{FF2B5EF4-FFF2-40B4-BE49-F238E27FC236}">
                <a16:creationId xmlns:a16="http://schemas.microsoft.com/office/drawing/2014/main" id="{23E241D1-E49A-C307-2F47-1A64D1BC111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263E60F-66AA-F551-557D-79E022DCD921}"/>
              </a:ext>
            </a:extLst>
          </p:cNvPr>
          <p:cNvSpPr>
            <a:spLocks noGrp="1"/>
          </p:cNvSpPr>
          <p:nvPr>
            <p:ph type="sldNum" sz="quarter" idx="12"/>
          </p:nvPr>
        </p:nvSpPr>
        <p:spPr/>
        <p:txBody>
          <a:bodyPr/>
          <a:lstStyle/>
          <a:p>
            <a:fld id="{D8E233C6-FDE6-354F-9DFD-775FECDC4275}" type="slidenum">
              <a:rPr lang="en-US" smtClean="0"/>
              <a:t>‹#›</a:t>
            </a:fld>
            <a:endParaRPr lang="en-US"/>
          </a:p>
        </p:txBody>
      </p:sp>
    </p:spTree>
    <p:extLst>
      <p:ext uri="{BB962C8B-B14F-4D97-AF65-F5344CB8AC3E}">
        <p14:creationId xmlns:p14="http://schemas.microsoft.com/office/powerpoint/2010/main" val="21840369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C73D3-8BBB-1C0B-9BA3-03B9AE8D54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3F76619-150F-F5D2-B136-D94272BCDF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A9F70F6-3691-06C6-9C4C-AC1C7F798E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691BF8-84B9-FB49-7212-C3058C5CF942}"/>
              </a:ext>
            </a:extLst>
          </p:cNvPr>
          <p:cNvSpPr>
            <a:spLocks noGrp="1"/>
          </p:cNvSpPr>
          <p:nvPr>
            <p:ph type="dt" sz="half" idx="10"/>
          </p:nvPr>
        </p:nvSpPr>
        <p:spPr/>
        <p:txBody>
          <a:bodyPr/>
          <a:lstStyle/>
          <a:p>
            <a:fld id="{2332F578-431F-584D-96CB-E82021C02728}" type="datetimeFigureOut">
              <a:rPr lang="en-US" smtClean="0"/>
              <a:t>12/9/25</a:t>
            </a:fld>
            <a:endParaRPr lang="en-US"/>
          </a:p>
        </p:txBody>
      </p:sp>
      <p:sp>
        <p:nvSpPr>
          <p:cNvPr id="6" name="Footer Placeholder 5">
            <a:extLst>
              <a:ext uri="{FF2B5EF4-FFF2-40B4-BE49-F238E27FC236}">
                <a16:creationId xmlns:a16="http://schemas.microsoft.com/office/drawing/2014/main" id="{0DB9C4AE-E06E-E157-DF57-CA66549342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2F1B61-15E2-348B-776E-8B729A4DFE8C}"/>
              </a:ext>
            </a:extLst>
          </p:cNvPr>
          <p:cNvSpPr>
            <a:spLocks noGrp="1"/>
          </p:cNvSpPr>
          <p:nvPr>
            <p:ph type="sldNum" sz="quarter" idx="12"/>
          </p:nvPr>
        </p:nvSpPr>
        <p:spPr/>
        <p:txBody>
          <a:bodyPr/>
          <a:lstStyle/>
          <a:p>
            <a:fld id="{D8E233C6-FDE6-354F-9DFD-775FECDC4275}" type="slidenum">
              <a:rPr lang="en-US" smtClean="0"/>
              <a:t>‹#›</a:t>
            </a:fld>
            <a:endParaRPr lang="en-US"/>
          </a:p>
        </p:txBody>
      </p:sp>
    </p:spTree>
    <p:extLst>
      <p:ext uri="{BB962C8B-B14F-4D97-AF65-F5344CB8AC3E}">
        <p14:creationId xmlns:p14="http://schemas.microsoft.com/office/powerpoint/2010/main" val="11783061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FF01D-C075-CEE2-3C98-40F78C2789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7F413DC-CB47-91BD-FDAB-11E0A34B99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91AAA3D-B3F4-8EEB-6A68-BA7AEC2D6E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6944B6-3008-7B53-8FEA-B9AF79746B5E}"/>
              </a:ext>
            </a:extLst>
          </p:cNvPr>
          <p:cNvSpPr>
            <a:spLocks noGrp="1"/>
          </p:cNvSpPr>
          <p:nvPr>
            <p:ph type="dt" sz="half" idx="10"/>
          </p:nvPr>
        </p:nvSpPr>
        <p:spPr/>
        <p:txBody>
          <a:bodyPr/>
          <a:lstStyle/>
          <a:p>
            <a:fld id="{2332F578-431F-584D-96CB-E82021C02728}" type="datetimeFigureOut">
              <a:rPr lang="en-US" smtClean="0"/>
              <a:t>12/9/25</a:t>
            </a:fld>
            <a:endParaRPr lang="en-US"/>
          </a:p>
        </p:txBody>
      </p:sp>
      <p:sp>
        <p:nvSpPr>
          <p:cNvPr id="6" name="Footer Placeholder 5">
            <a:extLst>
              <a:ext uri="{FF2B5EF4-FFF2-40B4-BE49-F238E27FC236}">
                <a16:creationId xmlns:a16="http://schemas.microsoft.com/office/drawing/2014/main" id="{74BEFAE2-888F-4BA6-7774-A866B2C101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5700D9-292C-D4D8-CF1F-7B307A83B92B}"/>
              </a:ext>
            </a:extLst>
          </p:cNvPr>
          <p:cNvSpPr>
            <a:spLocks noGrp="1"/>
          </p:cNvSpPr>
          <p:nvPr>
            <p:ph type="sldNum" sz="quarter" idx="12"/>
          </p:nvPr>
        </p:nvSpPr>
        <p:spPr/>
        <p:txBody>
          <a:bodyPr/>
          <a:lstStyle/>
          <a:p>
            <a:fld id="{D8E233C6-FDE6-354F-9DFD-775FECDC4275}" type="slidenum">
              <a:rPr lang="en-US" smtClean="0"/>
              <a:t>‹#›</a:t>
            </a:fld>
            <a:endParaRPr lang="en-US"/>
          </a:p>
        </p:txBody>
      </p:sp>
    </p:spTree>
    <p:extLst>
      <p:ext uri="{BB962C8B-B14F-4D97-AF65-F5344CB8AC3E}">
        <p14:creationId xmlns:p14="http://schemas.microsoft.com/office/powerpoint/2010/main" val="1681828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39496-0888-C272-6388-37C9CFCBDB0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356509B-8575-E41F-F5E3-A72C0FB069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9A3251-FFE4-E65C-0E71-F9DD5EB8EA79}"/>
              </a:ext>
            </a:extLst>
          </p:cNvPr>
          <p:cNvSpPr>
            <a:spLocks noGrp="1"/>
          </p:cNvSpPr>
          <p:nvPr>
            <p:ph type="dt" sz="half" idx="10"/>
          </p:nvPr>
        </p:nvSpPr>
        <p:spPr/>
        <p:txBody>
          <a:bodyPr/>
          <a:lstStyle/>
          <a:p>
            <a:fld id="{2332F578-431F-584D-96CB-E82021C02728}" type="datetimeFigureOut">
              <a:rPr lang="en-US" smtClean="0"/>
              <a:t>12/9/25</a:t>
            </a:fld>
            <a:endParaRPr lang="en-US"/>
          </a:p>
        </p:txBody>
      </p:sp>
      <p:sp>
        <p:nvSpPr>
          <p:cNvPr id="5" name="Footer Placeholder 4">
            <a:extLst>
              <a:ext uri="{FF2B5EF4-FFF2-40B4-BE49-F238E27FC236}">
                <a16:creationId xmlns:a16="http://schemas.microsoft.com/office/drawing/2014/main" id="{19CADD68-BE91-5214-2178-9986C4F2E0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818A38-57F5-E9D8-A16A-0BE3ABABDFEC}"/>
              </a:ext>
            </a:extLst>
          </p:cNvPr>
          <p:cNvSpPr>
            <a:spLocks noGrp="1"/>
          </p:cNvSpPr>
          <p:nvPr>
            <p:ph type="sldNum" sz="quarter" idx="12"/>
          </p:nvPr>
        </p:nvSpPr>
        <p:spPr/>
        <p:txBody>
          <a:bodyPr/>
          <a:lstStyle/>
          <a:p>
            <a:fld id="{D8E233C6-FDE6-354F-9DFD-775FECDC4275}" type="slidenum">
              <a:rPr lang="en-US" smtClean="0"/>
              <a:t>‹#›</a:t>
            </a:fld>
            <a:endParaRPr lang="en-US"/>
          </a:p>
        </p:txBody>
      </p:sp>
    </p:spTree>
    <p:extLst>
      <p:ext uri="{BB962C8B-B14F-4D97-AF65-F5344CB8AC3E}">
        <p14:creationId xmlns:p14="http://schemas.microsoft.com/office/powerpoint/2010/main" val="781749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3963C2-BCBE-B611-3ABD-89B9BE0BD91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B4F4B31-D713-C5D4-5CB0-1D74FB13739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63BA55-97E2-BEBC-780A-EBEE4ED9E3C4}"/>
              </a:ext>
            </a:extLst>
          </p:cNvPr>
          <p:cNvSpPr>
            <a:spLocks noGrp="1"/>
          </p:cNvSpPr>
          <p:nvPr>
            <p:ph type="dt" sz="half" idx="10"/>
          </p:nvPr>
        </p:nvSpPr>
        <p:spPr/>
        <p:txBody>
          <a:bodyPr/>
          <a:lstStyle/>
          <a:p>
            <a:fld id="{2332F578-431F-584D-96CB-E82021C02728}" type="datetimeFigureOut">
              <a:rPr lang="en-US" smtClean="0"/>
              <a:t>12/9/25</a:t>
            </a:fld>
            <a:endParaRPr lang="en-US"/>
          </a:p>
        </p:txBody>
      </p:sp>
      <p:sp>
        <p:nvSpPr>
          <p:cNvPr id="5" name="Footer Placeholder 4">
            <a:extLst>
              <a:ext uri="{FF2B5EF4-FFF2-40B4-BE49-F238E27FC236}">
                <a16:creationId xmlns:a16="http://schemas.microsoft.com/office/drawing/2014/main" id="{A684B346-26EA-8EB3-EA35-13862430E4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65A8A3-9D56-A53F-F8DF-C4BBD3BBC9AD}"/>
              </a:ext>
            </a:extLst>
          </p:cNvPr>
          <p:cNvSpPr>
            <a:spLocks noGrp="1"/>
          </p:cNvSpPr>
          <p:nvPr>
            <p:ph type="sldNum" sz="quarter" idx="12"/>
          </p:nvPr>
        </p:nvSpPr>
        <p:spPr/>
        <p:txBody>
          <a:bodyPr/>
          <a:lstStyle/>
          <a:p>
            <a:fld id="{D8E233C6-FDE6-354F-9DFD-775FECDC4275}" type="slidenum">
              <a:rPr lang="en-US" smtClean="0"/>
              <a:t>‹#›</a:t>
            </a:fld>
            <a:endParaRPr lang="en-US"/>
          </a:p>
        </p:txBody>
      </p:sp>
    </p:spTree>
    <p:extLst>
      <p:ext uri="{BB962C8B-B14F-4D97-AF65-F5344CB8AC3E}">
        <p14:creationId xmlns:p14="http://schemas.microsoft.com/office/powerpoint/2010/main" val="34270660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686B0C-5CAC-E95C-E68F-E568691A7B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6528F2B-DCB6-FE44-198F-3C4B5B0CAD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77D4BA-FB46-43E9-2032-98AE496D20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332F578-431F-584D-96CB-E82021C02728}" type="datetimeFigureOut">
              <a:rPr lang="en-US" smtClean="0"/>
              <a:t>12/9/25</a:t>
            </a:fld>
            <a:endParaRPr lang="en-US"/>
          </a:p>
        </p:txBody>
      </p:sp>
      <p:sp>
        <p:nvSpPr>
          <p:cNvPr id="5" name="Footer Placeholder 4">
            <a:extLst>
              <a:ext uri="{FF2B5EF4-FFF2-40B4-BE49-F238E27FC236}">
                <a16:creationId xmlns:a16="http://schemas.microsoft.com/office/drawing/2014/main" id="{3AEA75C1-A488-70D9-AA58-E1B682A965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FE9C9F9-29A4-BD34-1773-A7B9E6586D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8E233C6-FDE6-354F-9DFD-775FECDC4275}" type="slidenum">
              <a:rPr lang="en-US" smtClean="0"/>
              <a:t>‹#›</a:t>
            </a:fld>
            <a:endParaRPr lang="en-US"/>
          </a:p>
        </p:txBody>
      </p:sp>
    </p:spTree>
    <p:extLst>
      <p:ext uri="{BB962C8B-B14F-4D97-AF65-F5344CB8AC3E}">
        <p14:creationId xmlns:p14="http://schemas.microsoft.com/office/powerpoint/2010/main" val="24771681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4BC6333-0A27-EAE5-881D-881308ECF948}"/>
              </a:ext>
            </a:extLst>
          </p:cNvPr>
          <p:cNvSpPr>
            <a:spLocks noGrp="1"/>
          </p:cNvSpPr>
          <p:nvPr>
            <p:ph type="ctrTitle"/>
          </p:nvPr>
        </p:nvSpPr>
        <p:spPr/>
        <p:txBody>
          <a:bodyPr/>
          <a:lstStyle/>
          <a:p>
            <a:r>
              <a:rPr lang="en-US" dirty="0"/>
              <a:t>CARE Principles for Indigenous Data Governance</a:t>
            </a:r>
          </a:p>
        </p:txBody>
      </p:sp>
      <p:sp>
        <p:nvSpPr>
          <p:cNvPr id="5" name="Subtitle 4">
            <a:extLst>
              <a:ext uri="{FF2B5EF4-FFF2-40B4-BE49-F238E27FC236}">
                <a16:creationId xmlns:a16="http://schemas.microsoft.com/office/drawing/2014/main" id="{399795CA-B407-06C3-1E04-E776564931D1}"/>
              </a:ext>
            </a:extLst>
          </p:cNvPr>
          <p:cNvSpPr>
            <a:spLocks noGrp="1"/>
          </p:cNvSpPr>
          <p:nvPr>
            <p:ph type="subTitle" idx="1"/>
          </p:nvPr>
        </p:nvSpPr>
        <p:spPr/>
        <p:txBody>
          <a:bodyPr>
            <a:normAutofit lnSpcReduction="10000"/>
          </a:bodyPr>
          <a:lstStyle/>
          <a:p>
            <a:r>
              <a:rPr lang="en-US" dirty="0"/>
              <a:t>ES 292 </a:t>
            </a:r>
          </a:p>
          <a:p>
            <a:r>
              <a:rPr lang="en-US" dirty="0"/>
              <a:t>Fall 2025</a:t>
            </a:r>
          </a:p>
          <a:p>
            <a:r>
              <a:rPr lang="en-US" dirty="0"/>
              <a:t>Prof. Erin Hestir </a:t>
            </a:r>
          </a:p>
          <a:p>
            <a:r>
              <a:rPr lang="en-US" dirty="0"/>
              <a:t>University of California Merced</a:t>
            </a:r>
          </a:p>
        </p:txBody>
      </p:sp>
    </p:spTree>
    <p:extLst>
      <p:ext uri="{BB962C8B-B14F-4D97-AF65-F5344CB8AC3E}">
        <p14:creationId xmlns:p14="http://schemas.microsoft.com/office/powerpoint/2010/main" val="24179860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A6E59C-6721-A652-3503-BDB052705B77}"/>
              </a:ext>
            </a:extLst>
          </p:cNvPr>
          <p:cNvSpPr>
            <a:spLocks noGrp="1"/>
          </p:cNvSpPr>
          <p:nvPr>
            <p:ph type="title"/>
          </p:nvPr>
        </p:nvSpPr>
        <p:spPr/>
        <p:txBody>
          <a:bodyPr/>
          <a:lstStyle/>
          <a:p>
            <a:r>
              <a:rPr lang="en-US" dirty="0"/>
              <a:t>Announcements 	</a:t>
            </a:r>
          </a:p>
        </p:txBody>
      </p:sp>
      <p:sp>
        <p:nvSpPr>
          <p:cNvPr id="5" name="Text Placeholder 4">
            <a:extLst>
              <a:ext uri="{FF2B5EF4-FFF2-40B4-BE49-F238E27FC236}">
                <a16:creationId xmlns:a16="http://schemas.microsoft.com/office/drawing/2014/main" id="{F7BDA839-1E31-3235-DBD9-028D920A9281}"/>
              </a:ext>
            </a:extLst>
          </p:cNvPr>
          <p:cNvSpPr>
            <a:spLocks noGrp="1"/>
          </p:cNvSpPr>
          <p:nvPr>
            <p:ph type="body" idx="1"/>
          </p:nvPr>
        </p:nvSpPr>
        <p:spPr/>
        <p:txBody>
          <a:bodyPr/>
          <a:lstStyle/>
          <a:p>
            <a:r>
              <a:rPr lang="en-US" dirty="0"/>
              <a:t>What’s up?</a:t>
            </a:r>
          </a:p>
        </p:txBody>
      </p:sp>
    </p:spTree>
    <p:extLst>
      <p:ext uri="{BB962C8B-B14F-4D97-AF65-F5344CB8AC3E}">
        <p14:creationId xmlns:p14="http://schemas.microsoft.com/office/powerpoint/2010/main" val="33230971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0ADB16F-7DE8-038E-E48C-E28500A4D098}"/>
              </a:ext>
            </a:extLst>
          </p:cNvPr>
          <p:cNvPicPr>
            <a:picLocks noChangeAspect="1"/>
          </p:cNvPicPr>
          <p:nvPr/>
        </p:nvPicPr>
        <p:blipFill>
          <a:blip r:embed="rId2"/>
          <a:stretch>
            <a:fillRect/>
          </a:stretch>
        </p:blipFill>
        <p:spPr>
          <a:xfrm>
            <a:off x="0" y="0"/>
            <a:ext cx="7772400" cy="4513291"/>
          </a:xfrm>
          <a:prstGeom prst="rect">
            <a:avLst/>
          </a:prstGeom>
        </p:spPr>
      </p:pic>
      <p:pic>
        <p:nvPicPr>
          <p:cNvPr id="4" name="Picture 3">
            <a:extLst>
              <a:ext uri="{FF2B5EF4-FFF2-40B4-BE49-F238E27FC236}">
                <a16:creationId xmlns:a16="http://schemas.microsoft.com/office/drawing/2014/main" id="{74460BBD-2DCE-77C0-A2C4-AB6BCD3287EB}"/>
              </a:ext>
            </a:extLst>
          </p:cNvPr>
          <p:cNvPicPr>
            <a:picLocks noChangeAspect="1"/>
          </p:cNvPicPr>
          <p:nvPr/>
        </p:nvPicPr>
        <p:blipFill>
          <a:blip r:embed="rId3"/>
          <a:srcRect l="7991" t="16740" r="9967"/>
          <a:stretch>
            <a:fillRect/>
          </a:stretch>
        </p:blipFill>
        <p:spPr>
          <a:xfrm>
            <a:off x="5398717" y="816153"/>
            <a:ext cx="6376618" cy="4041604"/>
          </a:xfrm>
          <a:prstGeom prst="rect">
            <a:avLst/>
          </a:prstGeom>
          <a:effectLst>
            <a:outerShdw blurRad="127000" dist="38100" dir="2700000" sx="103000" sy="103000" algn="tl" rotWithShape="0">
              <a:prstClr val="black">
                <a:alpha val="40000"/>
              </a:prstClr>
            </a:outerShdw>
          </a:effectLst>
        </p:spPr>
      </p:pic>
      <p:pic>
        <p:nvPicPr>
          <p:cNvPr id="6" name="Picture 5">
            <a:extLst>
              <a:ext uri="{FF2B5EF4-FFF2-40B4-BE49-F238E27FC236}">
                <a16:creationId xmlns:a16="http://schemas.microsoft.com/office/drawing/2014/main" id="{58FDC5B5-C548-0C7B-ED5E-AA11D0F2EB1E}"/>
              </a:ext>
            </a:extLst>
          </p:cNvPr>
          <p:cNvPicPr>
            <a:picLocks noChangeAspect="1"/>
          </p:cNvPicPr>
          <p:nvPr/>
        </p:nvPicPr>
        <p:blipFill>
          <a:blip r:embed="rId4"/>
          <a:stretch>
            <a:fillRect/>
          </a:stretch>
        </p:blipFill>
        <p:spPr>
          <a:xfrm>
            <a:off x="931189" y="4857757"/>
            <a:ext cx="8756374" cy="1859339"/>
          </a:xfrm>
          <a:prstGeom prst="rect">
            <a:avLst/>
          </a:prstGeom>
          <a:effectLst>
            <a:outerShdw blurRad="127000" dist="38100" dir="2700000" sx="103000" sy="103000" algn="tl" rotWithShape="0">
              <a:prstClr val="black">
                <a:alpha val="40000"/>
              </a:prstClr>
            </a:outerShdw>
          </a:effectLst>
        </p:spPr>
      </p:pic>
      <p:sp>
        <p:nvSpPr>
          <p:cNvPr id="7" name="Oval 6">
            <a:extLst>
              <a:ext uri="{FF2B5EF4-FFF2-40B4-BE49-F238E27FC236}">
                <a16:creationId xmlns:a16="http://schemas.microsoft.com/office/drawing/2014/main" id="{CC52899B-9B73-1812-A375-24D6E977CE7B}"/>
              </a:ext>
            </a:extLst>
          </p:cNvPr>
          <p:cNvSpPr/>
          <p:nvPr/>
        </p:nvSpPr>
        <p:spPr>
          <a:xfrm>
            <a:off x="7265096" y="5787426"/>
            <a:ext cx="1728592" cy="450536"/>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F857850A-3F83-78E9-A6C2-ED0FD5621795}"/>
              </a:ext>
            </a:extLst>
          </p:cNvPr>
          <p:cNvCxnSpPr>
            <a:cxnSpLocks/>
          </p:cNvCxnSpPr>
          <p:nvPr/>
        </p:nvCxnSpPr>
        <p:spPr>
          <a:xfrm flipH="1">
            <a:off x="8993688" y="5769318"/>
            <a:ext cx="2064748" cy="117915"/>
          </a:xfrm>
          <a:prstGeom prst="straightConnector1">
            <a:avLst/>
          </a:prstGeom>
          <a:ln w="50800">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6ABB3502-8A82-9190-711B-8E16163CFBD9}"/>
              </a:ext>
            </a:extLst>
          </p:cNvPr>
          <p:cNvCxnSpPr>
            <a:cxnSpLocks/>
          </p:cNvCxnSpPr>
          <p:nvPr/>
        </p:nvCxnSpPr>
        <p:spPr>
          <a:xfrm flipH="1" flipV="1">
            <a:off x="8830849" y="6237962"/>
            <a:ext cx="2404998" cy="479134"/>
          </a:xfrm>
          <a:prstGeom prst="straightConnector1">
            <a:avLst/>
          </a:prstGeom>
          <a:ln w="50800">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8EC77042-738B-26FB-C36A-BA74AAC4332E}"/>
              </a:ext>
            </a:extLst>
          </p:cNvPr>
          <p:cNvCxnSpPr>
            <a:cxnSpLocks/>
          </p:cNvCxnSpPr>
          <p:nvPr/>
        </p:nvCxnSpPr>
        <p:spPr>
          <a:xfrm flipH="1">
            <a:off x="8587026" y="4307441"/>
            <a:ext cx="1100537" cy="1461877"/>
          </a:xfrm>
          <a:prstGeom prst="straightConnector1">
            <a:avLst/>
          </a:prstGeom>
          <a:ln w="50800">
            <a:solidFill>
              <a:srgbClr val="C0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04866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E442F4-31F4-B7F1-F49D-F5170ACF8155}"/>
              </a:ext>
            </a:extLst>
          </p:cNvPr>
          <p:cNvSpPr>
            <a:spLocks noGrp="1"/>
          </p:cNvSpPr>
          <p:nvPr>
            <p:ph type="title"/>
          </p:nvPr>
        </p:nvSpPr>
        <p:spPr/>
        <p:txBody>
          <a:bodyPr/>
          <a:lstStyle/>
          <a:p>
            <a:r>
              <a:rPr lang="en-US" dirty="0"/>
              <a:t>CARE &amp; FAIR Data Principles</a:t>
            </a:r>
          </a:p>
        </p:txBody>
      </p:sp>
    </p:spTree>
    <p:extLst>
      <p:ext uri="{BB962C8B-B14F-4D97-AF65-F5344CB8AC3E}">
        <p14:creationId xmlns:p14="http://schemas.microsoft.com/office/powerpoint/2010/main" val="1914067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2036EA3-E812-E887-7497-579833DBDCC6}"/>
              </a:ext>
            </a:extLst>
          </p:cNvPr>
          <p:cNvSpPr>
            <a:spLocks noGrp="1"/>
          </p:cNvSpPr>
          <p:nvPr>
            <p:ph type="title"/>
          </p:nvPr>
        </p:nvSpPr>
        <p:spPr/>
        <p:txBody>
          <a:bodyPr/>
          <a:lstStyle/>
          <a:p>
            <a:r>
              <a:rPr lang="en-US" dirty="0"/>
              <a:t>Why CARE Matters for Environmental Systems (and your research…)</a:t>
            </a:r>
          </a:p>
        </p:txBody>
      </p:sp>
      <p:sp>
        <p:nvSpPr>
          <p:cNvPr id="5" name="Content Placeholder 4">
            <a:extLst>
              <a:ext uri="{FF2B5EF4-FFF2-40B4-BE49-F238E27FC236}">
                <a16:creationId xmlns:a16="http://schemas.microsoft.com/office/drawing/2014/main" id="{7FE1906F-5ABA-F3B7-1797-2BEF820B3419}"/>
              </a:ext>
            </a:extLst>
          </p:cNvPr>
          <p:cNvSpPr>
            <a:spLocks noGrp="1"/>
          </p:cNvSpPr>
          <p:nvPr>
            <p:ph idx="1"/>
          </p:nvPr>
        </p:nvSpPr>
        <p:spPr/>
        <p:txBody>
          <a:bodyPr/>
          <a:lstStyle/>
          <a:p>
            <a:r>
              <a:rPr lang="en-US" dirty="0"/>
              <a:t>Research intersects indigenous lands, waters, histories, communities</a:t>
            </a:r>
          </a:p>
          <a:p>
            <a:r>
              <a:rPr lang="en-US" dirty="0"/>
              <a:t>Environmental data = power + governance </a:t>
            </a:r>
          </a:p>
          <a:p>
            <a:r>
              <a:rPr lang="en-US" dirty="0"/>
              <a:t>FAIR ≠ sufficient </a:t>
            </a:r>
          </a:p>
          <a:p>
            <a:r>
              <a:rPr lang="en-US" dirty="0"/>
              <a:t>CARE ensures justice, sovereignty, and reciprocity </a:t>
            </a:r>
          </a:p>
        </p:txBody>
      </p:sp>
    </p:spTree>
    <p:extLst>
      <p:ext uri="{BB962C8B-B14F-4D97-AF65-F5344CB8AC3E}">
        <p14:creationId xmlns:p14="http://schemas.microsoft.com/office/powerpoint/2010/main" val="9921798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7FA0F-8128-9F80-7D4A-B9A34DADFCB8}"/>
              </a:ext>
            </a:extLst>
          </p:cNvPr>
          <p:cNvSpPr>
            <a:spLocks noGrp="1"/>
          </p:cNvSpPr>
          <p:nvPr>
            <p:ph type="title"/>
          </p:nvPr>
        </p:nvSpPr>
        <p:spPr/>
        <p:txBody>
          <a:bodyPr/>
          <a:lstStyle/>
          <a:p>
            <a:r>
              <a:rPr lang="en-US"/>
              <a:t>UNDRIP: The Foundation</a:t>
            </a:r>
            <a:endParaRPr lang="en-US" dirty="0"/>
          </a:p>
        </p:txBody>
      </p:sp>
      <p:pic>
        <p:nvPicPr>
          <p:cNvPr id="4" name="Picture 3">
            <a:extLst>
              <a:ext uri="{FF2B5EF4-FFF2-40B4-BE49-F238E27FC236}">
                <a16:creationId xmlns:a16="http://schemas.microsoft.com/office/drawing/2014/main" id="{D6D7C3EA-0978-5EA7-9812-2D41220B59DC}"/>
              </a:ext>
            </a:extLst>
          </p:cNvPr>
          <p:cNvPicPr>
            <a:picLocks noChangeAspect="1"/>
          </p:cNvPicPr>
          <p:nvPr/>
        </p:nvPicPr>
        <p:blipFill>
          <a:blip r:embed="rId3"/>
          <a:stretch>
            <a:fillRect/>
          </a:stretch>
        </p:blipFill>
        <p:spPr>
          <a:xfrm>
            <a:off x="6807200" y="0"/>
            <a:ext cx="5384800" cy="6899276"/>
          </a:xfrm>
          <a:prstGeom prst="rect">
            <a:avLst/>
          </a:prstGeom>
        </p:spPr>
      </p:pic>
      <p:sp>
        <p:nvSpPr>
          <p:cNvPr id="6" name="TextBox 5">
            <a:extLst>
              <a:ext uri="{FF2B5EF4-FFF2-40B4-BE49-F238E27FC236}">
                <a16:creationId xmlns:a16="http://schemas.microsoft.com/office/drawing/2014/main" id="{0AAC27AE-2080-C678-DB62-7FF926F6E2E9}"/>
              </a:ext>
            </a:extLst>
          </p:cNvPr>
          <p:cNvSpPr txBox="1"/>
          <p:nvPr/>
        </p:nvSpPr>
        <p:spPr>
          <a:xfrm>
            <a:off x="355600" y="2055813"/>
            <a:ext cx="6096000" cy="4401205"/>
          </a:xfrm>
          <a:prstGeom prst="rect">
            <a:avLst/>
          </a:prstGeom>
          <a:noFill/>
        </p:spPr>
        <p:txBody>
          <a:bodyPr wrap="square">
            <a:spAutoFit/>
          </a:bodyPr>
          <a:lstStyle/>
          <a:p>
            <a:r>
              <a:rPr lang="en-US" sz="2800" b="1" dirty="0"/>
              <a:t>Article 18 </a:t>
            </a:r>
          </a:p>
          <a:p>
            <a:r>
              <a:rPr lang="en-US" sz="2800" dirty="0"/>
              <a:t>“Indigenous peoples have the right to participate in decision-making in matters which would affect 16 their rights, through representatives chosen by themselves in accordance with their own procedures, as well as to maintain and develop their own indigenous decision-making institutions.”</a:t>
            </a:r>
          </a:p>
        </p:txBody>
      </p:sp>
    </p:spTree>
    <p:extLst>
      <p:ext uri="{BB962C8B-B14F-4D97-AF65-F5344CB8AC3E}">
        <p14:creationId xmlns:p14="http://schemas.microsoft.com/office/powerpoint/2010/main" val="19693912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CE66F-9AE8-8793-64A6-3C81855A6216}"/>
              </a:ext>
            </a:extLst>
          </p:cNvPr>
          <p:cNvSpPr>
            <a:spLocks noGrp="1"/>
          </p:cNvSpPr>
          <p:nvPr>
            <p:ph type="title"/>
          </p:nvPr>
        </p:nvSpPr>
        <p:spPr>
          <a:xfrm>
            <a:off x="838200" y="365125"/>
            <a:ext cx="5237163" cy="2915957"/>
          </a:xfrm>
        </p:spPr>
        <p:txBody>
          <a:bodyPr>
            <a:normAutofit/>
          </a:bodyPr>
          <a:lstStyle/>
          <a:p>
            <a:r>
              <a:rPr lang="en-US" dirty="0"/>
              <a:t>Indigenous Data Sovereignty: CARE Principles</a:t>
            </a:r>
          </a:p>
        </p:txBody>
      </p:sp>
      <p:pic>
        <p:nvPicPr>
          <p:cNvPr id="3074" name="Picture 2" descr="figure 1">
            <a:extLst>
              <a:ext uri="{FF2B5EF4-FFF2-40B4-BE49-F238E27FC236}">
                <a16:creationId xmlns:a16="http://schemas.microsoft.com/office/drawing/2014/main" id="{5C4DEE08-D648-0DA2-11E9-A4787D388E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5363" y="0"/>
            <a:ext cx="6116637"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9DEB0E1-F40F-C261-E6A8-288BFB46A043}"/>
              </a:ext>
            </a:extLst>
          </p:cNvPr>
          <p:cNvSpPr txBox="1"/>
          <p:nvPr/>
        </p:nvSpPr>
        <p:spPr>
          <a:xfrm>
            <a:off x="251012" y="5754211"/>
            <a:ext cx="5540188" cy="738664"/>
          </a:xfrm>
          <a:prstGeom prst="rect">
            <a:avLst/>
          </a:prstGeom>
          <a:noFill/>
        </p:spPr>
        <p:txBody>
          <a:bodyPr wrap="square">
            <a:spAutoFit/>
          </a:bodyPr>
          <a:lstStyle/>
          <a:p>
            <a:r>
              <a:rPr lang="en-US" sz="1400" b="0" i="0" dirty="0">
                <a:solidFill>
                  <a:srgbClr val="222222"/>
                </a:solidFill>
                <a:effectLst/>
                <a:latin typeface="Avenir Next Condensed" panose="020B0506020202020204" pitchFamily="34" charset="0"/>
              </a:rPr>
              <a:t>Jennings, L., Anderson, T., Martinez, A. </a:t>
            </a:r>
            <a:r>
              <a:rPr lang="en-US" sz="1400" b="0" i="1" dirty="0">
                <a:solidFill>
                  <a:srgbClr val="222222"/>
                </a:solidFill>
                <a:effectLst/>
                <a:latin typeface="Avenir Next Condensed" panose="020B0506020202020204" pitchFamily="34" charset="0"/>
              </a:rPr>
              <a:t>et al.</a:t>
            </a:r>
            <a:r>
              <a:rPr lang="en-US" sz="1400" b="0" i="0" dirty="0">
                <a:solidFill>
                  <a:srgbClr val="222222"/>
                </a:solidFill>
                <a:effectLst/>
                <a:latin typeface="Avenir Next Condensed" panose="020B0506020202020204" pitchFamily="34" charset="0"/>
              </a:rPr>
              <a:t> Applying the ‘CARE Principles for Indigenous Data Governance’ to ecology and biodiversity research. </a:t>
            </a:r>
            <a:r>
              <a:rPr lang="en-US" sz="1400" b="0" i="1" dirty="0">
                <a:solidFill>
                  <a:srgbClr val="222222"/>
                </a:solidFill>
                <a:effectLst/>
                <a:latin typeface="Avenir Next Condensed" panose="020B0506020202020204" pitchFamily="34" charset="0"/>
              </a:rPr>
              <a:t>Nat </a:t>
            </a:r>
            <a:r>
              <a:rPr lang="en-US" sz="1400" b="0" i="1" dirty="0" err="1">
                <a:solidFill>
                  <a:srgbClr val="222222"/>
                </a:solidFill>
                <a:effectLst/>
                <a:latin typeface="Avenir Next Condensed" panose="020B0506020202020204" pitchFamily="34" charset="0"/>
              </a:rPr>
              <a:t>Ecol</a:t>
            </a:r>
            <a:r>
              <a:rPr lang="en-US" sz="1400" b="0" i="1" dirty="0">
                <a:solidFill>
                  <a:srgbClr val="222222"/>
                </a:solidFill>
                <a:effectLst/>
                <a:latin typeface="Avenir Next Condensed" panose="020B0506020202020204" pitchFamily="34" charset="0"/>
              </a:rPr>
              <a:t> Evol</a:t>
            </a:r>
            <a:r>
              <a:rPr lang="en-US" sz="1400" b="0" i="0" dirty="0">
                <a:solidFill>
                  <a:srgbClr val="222222"/>
                </a:solidFill>
                <a:effectLst/>
                <a:latin typeface="Avenir Next Condensed" panose="020B0506020202020204" pitchFamily="34" charset="0"/>
              </a:rPr>
              <a:t> </a:t>
            </a:r>
            <a:r>
              <a:rPr lang="en-US" sz="1400" b="1" i="0" dirty="0">
                <a:solidFill>
                  <a:srgbClr val="222222"/>
                </a:solidFill>
                <a:effectLst/>
                <a:latin typeface="Avenir Next Condensed" panose="020B0506020202020204" pitchFamily="34" charset="0"/>
              </a:rPr>
              <a:t>7</a:t>
            </a:r>
            <a:r>
              <a:rPr lang="en-US" sz="1400" b="0" i="0" dirty="0">
                <a:solidFill>
                  <a:srgbClr val="222222"/>
                </a:solidFill>
                <a:effectLst/>
                <a:latin typeface="Avenir Next Condensed" panose="020B0506020202020204" pitchFamily="34" charset="0"/>
              </a:rPr>
              <a:t>, 1547–1551 (2023). https://</a:t>
            </a:r>
            <a:r>
              <a:rPr lang="en-US" sz="1400" b="0" i="0" dirty="0" err="1">
                <a:solidFill>
                  <a:srgbClr val="222222"/>
                </a:solidFill>
                <a:effectLst/>
                <a:latin typeface="Avenir Next Condensed" panose="020B0506020202020204" pitchFamily="34" charset="0"/>
              </a:rPr>
              <a:t>doi.org</a:t>
            </a:r>
            <a:r>
              <a:rPr lang="en-US" sz="1400" b="0" i="0" dirty="0">
                <a:solidFill>
                  <a:srgbClr val="222222"/>
                </a:solidFill>
                <a:effectLst/>
                <a:latin typeface="Avenir Next Condensed" panose="020B0506020202020204" pitchFamily="34" charset="0"/>
              </a:rPr>
              <a:t>/10.1038/s41559-023-02161-2</a:t>
            </a:r>
            <a:endParaRPr lang="en-US" sz="1400" dirty="0">
              <a:latin typeface="Avenir Next Condensed" panose="020B0506020202020204" pitchFamily="34" charset="0"/>
            </a:endParaRPr>
          </a:p>
        </p:txBody>
      </p:sp>
    </p:spTree>
    <p:extLst>
      <p:ext uri="{BB962C8B-B14F-4D97-AF65-F5344CB8AC3E}">
        <p14:creationId xmlns:p14="http://schemas.microsoft.com/office/powerpoint/2010/main" val="17063031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BCD7B-4F19-66BC-5E9B-CD30D683BDD5}"/>
              </a:ext>
            </a:extLst>
          </p:cNvPr>
          <p:cNvSpPr>
            <a:spLocks noGrp="1"/>
          </p:cNvSpPr>
          <p:nvPr>
            <p:ph type="title"/>
          </p:nvPr>
        </p:nvSpPr>
        <p:spPr/>
        <p:txBody>
          <a:bodyPr/>
          <a:lstStyle/>
          <a:p>
            <a:r>
              <a:rPr lang="en-US" dirty="0"/>
              <a:t>CARE &amp; FAIR Data Principles</a:t>
            </a:r>
          </a:p>
        </p:txBody>
      </p:sp>
      <p:pic>
        <p:nvPicPr>
          <p:cNvPr id="4098" name="Picture 2">
            <a:extLst>
              <a:ext uri="{FF2B5EF4-FFF2-40B4-BE49-F238E27FC236}">
                <a16:creationId xmlns:a16="http://schemas.microsoft.com/office/drawing/2014/main" id="{7BFFF680-4E7F-9058-3036-507A7F88A6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096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8E964420-18B7-91A6-1548-C0364AE9288E}"/>
              </a:ext>
            </a:extLst>
          </p:cNvPr>
          <p:cNvSpPr>
            <a:spLocks noChangeArrowheads="1"/>
          </p:cNvSpPr>
          <p:nvPr/>
        </p:nvSpPr>
        <p:spPr bwMode="auto">
          <a:xfrm>
            <a:off x="1053353" y="6199515"/>
            <a:ext cx="10515600" cy="523220"/>
          </a:xfrm>
          <a:prstGeom prst="rect">
            <a:avLst/>
          </a:prstGeom>
          <a:noFill/>
        </p:spPr>
        <p:txBody>
          <a:bodyPr wrap="square">
            <a:spAutoFit/>
          </a:bodyPr>
          <a:lstStyle/>
          <a:p>
            <a:r>
              <a:rPr lang="en-US" altLang="en-US" sz="1400" dirty="0">
                <a:solidFill>
                  <a:srgbClr val="222222"/>
                </a:solidFill>
                <a:latin typeface="Avenir Next Condensed" panose="020B0506020202020204" pitchFamily="34" charset="0"/>
              </a:rPr>
              <a:t>Carroll, S.R., Garba, I., Figueroa-Rodríguez, O.L., Holbrook, J., Lovett, R., </a:t>
            </a:r>
            <a:r>
              <a:rPr lang="en-US" altLang="en-US" sz="1400" dirty="0" err="1">
                <a:solidFill>
                  <a:srgbClr val="222222"/>
                </a:solidFill>
                <a:latin typeface="Avenir Next Condensed" panose="020B0506020202020204" pitchFamily="34" charset="0"/>
              </a:rPr>
              <a:t>Materechera</a:t>
            </a:r>
            <a:r>
              <a:rPr lang="en-US" altLang="en-US" sz="1400" dirty="0">
                <a:solidFill>
                  <a:srgbClr val="222222"/>
                </a:solidFill>
                <a:latin typeface="Avenir Next Condensed" panose="020B0506020202020204" pitchFamily="34" charset="0"/>
              </a:rPr>
              <a:t>, S., Parsons, M., </a:t>
            </a:r>
            <a:r>
              <a:rPr lang="en-US" altLang="en-US" sz="1400" dirty="0" err="1">
                <a:solidFill>
                  <a:srgbClr val="222222"/>
                </a:solidFill>
                <a:latin typeface="Avenir Next Condensed" panose="020B0506020202020204" pitchFamily="34" charset="0"/>
              </a:rPr>
              <a:t>Raseroka</a:t>
            </a:r>
            <a:r>
              <a:rPr lang="en-US" altLang="en-US" sz="1400" dirty="0">
                <a:solidFill>
                  <a:srgbClr val="222222"/>
                </a:solidFill>
                <a:latin typeface="Avenir Next Condensed" panose="020B0506020202020204" pitchFamily="34" charset="0"/>
              </a:rPr>
              <a:t>, K., Rodriguez-Lonebear, D., Rowe, R., Sara, R., Walker, J.D., Anderson, J. and Hudson, M. (2020) ‘The CARE Principles for Indigenous Data Governance’, Data Science Journal, 19(1), p. 43.</a:t>
            </a:r>
          </a:p>
        </p:txBody>
      </p:sp>
    </p:spTree>
    <p:extLst>
      <p:ext uri="{BB962C8B-B14F-4D97-AF65-F5344CB8AC3E}">
        <p14:creationId xmlns:p14="http://schemas.microsoft.com/office/powerpoint/2010/main" val="5462322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E0870-857F-5CCA-4CC4-C83AE3A1F706}"/>
              </a:ext>
            </a:extLst>
          </p:cNvPr>
          <p:cNvSpPr>
            <a:spLocks noGrp="1"/>
          </p:cNvSpPr>
          <p:nvPr>
            <p:ph type="title"/>
          </p:nvPr>
        </p:nvSpPr>
        <p:spPr/>
        <p:txBody>
          <a:bodyPr/>
          <a:lstStyle/>
          <a:p>
            <a:r>
              <a:rPr lang="en-US" dirty="0"/>
              <a:t>CARE vs FAIR Data Principles</a:t>
            </a:r>
          </a:p>
        </p:txBody>
      </p:sp>
      <p:pic>
        <p:nvPicPr>
          <p:cNvPr id="5124" name="Picture 4" descr="Fig. 1">
            <a:extLst>
              <a:ext uri="{FF2B5EF4-FFF2-40B4-BE49-F238E27FC236}">
                <a16:creationId xmlns:a16="http://schemas.microsoft.com/office/drawing/2014/main" id="{BCA5D72D-2EA2-0266-7CBD-0AE4988C07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6860" y="1690688"/>
            <a:ext cx="5398279" cy="453707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F390C6A-DD93-785B-8666-B9D5790A3C88}"/>
              </a:ext>
            </a:extLst>
          </p:cNvPr>
          <p:cNvSpPr txBox="1"/>
          <p:nvPr/>
        </p:nvSpPr>
        <p:spPr>
          <a:xfrm>
            <a:off x="125506" y="5314305"/>
            <a:ext cx="2886635" cy="1384995"/>
          </a:xfrm>
          <a:prstGeom prst="rect">
            <a:avLst/>
          </a:prstGeom>
          <a:noFill/>
        </p:spPr>
        <p:txBody>
          <a:bodyPr wrap="square">
            <a:spAutoFit/>
          </a:bodyPr>
          <a:lstStyle>
            <a:defPPr>
              <a:defRPr lang="en-US"/>
            </a:defPPr>
            <a:lvl1pPr>
              <a:defRPr sz="1400" b="0" i="0">
                <a:solidFill>
                  <a:srgbClr val="222222"/>
                </a:solidFill>
                <a:effectLst/>
                <a:latin typeface="Avenir Next Condensed" panose="020B0506020202020204" pitchFamily="34" charset="0"/>
              </a:defRPr>
            </a:lvl1pPr>
          </a:lstStyle>
          <a:p>
            <a:r>
              <a:rPr lang="en-US" dirty="0"/>
              <a:t>Carroll, S.R., Herczog, E., Hudson, M. et al. Operationalizing the CARE and FAIR Principles for Indigenous data futures. Sci Data 8, 108 (2021). https://</a:t>
            </a:r>
            <a:r>
              <a:rPr lang="en-US" dirty="0" err="1"/>
              <a:t>doi.org</a:t>
            </a:r>
            <a:r>
              <a:rPr lang="en-US" dirty="0"/>
              <a:t>/10.1038/s41597-021-00892-0</a:t>
            </a:r>
          </a:p>
        </p:txBody>
      </p:sp>
    </p:spTree>
    <p:extLst>
      <p:ext uri="{BB962C8B-B14F-4D97-AF65-F5344CB8AC3E}">
        <p14:creationId xmlns:p14="http://schemas.microsoft.com/office/powerpoint/2010/main" val="30147898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TotalTime>
  <Words>672</Words>
  <Application>Microsoft Macintosh PowerPoint</Application>
  <PresentationFormat>Widescreen</PresentationFormat>
  <Paragraphs>52</Paragraphs>
  <Slides>9</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Avenir Next Condensed</vt:lpstr>
      <vt:lpstr>Office Theme</vt:lpstr>
      <vt:lpstr>CARE Principles for Indigenous Data Governance</vt:lpstr>
      <vt:lpstr>Announcements  </vt:lpstr>
      <vt:lpstr>PowerPoint Presentation</vt:lpstr>
      <vt:lpstr>CARE &amp; FAIR Data Principles</vt:lpstr>
      <vt:lpstr>Why CARE Matters for Environmental Systems (and your research…)</vt:lpstr>
      <vt:lpstr>UNDRIP: The Foundation</vt:lpstr>
      <vt:lpstr>Indigenous Data Sovereignty: CARE Principles</vt:lpstr>
      <vt:lpstr>CARE &amp; FAIR Data Principles</vt:lpstr>
      <vt:lpstr>CARE vs FAIR Data Principles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Erin Hestir</dc:creator>
  <cp:lastModifiedBy>Erin Hestir</cp:lastModifiedBy>
  <cp:revision>1</cp:revision>
  <dcterms:created xsi:type="dcterms:W3CDTF">2025-12-09T22:53:31Z</dcterms:created>
  <dcterms:modified xsi:type="dcterms:W3CDTF">2025-12-09T23:28:28Z</dcterms:modified>
</cp:coreProperties>
</file>